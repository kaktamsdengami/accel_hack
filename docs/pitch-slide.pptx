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ixel-perfect-recreation-849.lovable.app/dashboard?match=m-ucl-dem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9A7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EXPOSURE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217920" y="41148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F6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Data-Centric Agents  ·  Accel × Aiven  ·  Paris 2026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dirty="0">
                <a:solidFill>
                  <a:srgbClr val="EE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agents that measure every second a sponsor is on screen.</a:t>
            </a:r>
            <a:endParaRPr lang="en-US" sz="2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2600" dirty="0">
                <a:solidFill>
                  <a:srgbClr val="EE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per surface, with the frame as proof.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A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</a:t>
            </a:r>
            <a:pPr indent="0" marL="0">
              <a:buNone/>
            </a:pPr>
            <a:r>
              <a:rPr lang="en-US" sz="140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turns a football broadcast into an auditable sponsor ledger that clubs bring to every renewal.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76272"/>
            <a:ext cx="11091672" cy="0"/>
          </a:xfrm>
          <a:prstGeom prst="line">
            <a:avLst/>
          </a:prstGeom>
          <a:noFill/>
          <a:ln w="9525">
            <a:solidFill>
              <a:srgbClr val="2E30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520440" y="2340864"/>
            <a:ext cx="0" cy="3529584"/>
          </a:xfrm>
          <a:prstGeom prst="line">
            <a:avLst/>
          </a:prstGeom>
          <a:noFill/>
          <a:ln w="9525">
            <a:solidFill>
              <a:srgbClr val="2E30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0" y="2340864"/>
            <a:ext cx="0" cy="3529584"/>
          </a:xfrm>
          <a:prstGeom prst="line">
            <a:avLst/>
          </a:prstGeom>
          <a:noFill/>
          <a:ln w="9525">
            <a:solidFill>
              <a:srgbClr val="2E30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89720" y="2340864"/>
            <a:ext cx="0" cy="3529584"/>
          </a:xfrm>
          <a:prstGeom prst="line">
            <a:avLst/>
          </a:prstGeom>
          <a:noFill/>
          <a:ln w="9525">
            <a:solidFill>
              <a:srgbClr val="2E30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340864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A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CUSTOMER PROBLEM &amp; VALUE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615184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EE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buyer with a deadline: the sponsor renewal.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3697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1985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Club commercial teams selling LED boards, shirts and backdrops; 2nd-tier clubs first.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895344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78224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seconds on screen per sponsor and surface, instead of a manual count.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53712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365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models read stylised logos OCR misses, at ≈ $0.12 per match-minute.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12080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USERS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9496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done with a 2nd-tier club, a second agreed; then leagues, for all their clubs.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703320" y="2340864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A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AGENT CAPABILITY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2615184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EE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agents that decide, budget and explain.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03320" y="3255264"/>
            <a:ext cx="310896" cy="310896"/>
          </a:xfrm>
          <a:prstGeom prst="ellipse">
            <a:avLst/>
          </a:prstGeom>
          <a:solidFill>
            <a:srgbClr val="0D0E0C"/>
          </a:solidFill>
          <a:ln w="12700">
            <a:solidFill>
              <a:srgbClr val="C9A76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03320" y="32735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7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160520" y="324612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Reader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160520" y="34747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each frame, picks only from the sponsor list. Unsure? Says unknown.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703320" y="4123944"/>
            <a:ext cx="310896" cy="310896"/>
          </a:xfrm>
          <a:prstGeom prst="ellipse">
            <a:avLst/>
          </a:prstGeom>
          <a:solidFill>
            <a:srgbClr val="0D0E0C"/>
          </a:solidFill>
          <a:ln w="12700">
            <a:solidFill>
              <a:srgbClr val="C9A7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03320" y="41422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7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411480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Guard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160520" y="4343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every model call first; stops at a hard per-match budget.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03320" y="4992624"/>
            <a:ext cx="310896" cy="310896"/>
          </a:xfrm>
          <a:prstGeom prst="ellipse">
            <a:avLst/>
          </a:prstGeom>
          <a:solidFill>
            <a:srgbClr val="0D0E0C"/>
          </a:solidFill>
          <a:ln w="12700">
            <a:solidFill>
              <a:srgbClr val="C9A76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03320" y="501091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7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160520" y="498348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Analyst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160520" y="5212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its own tool calls on the data API; cites seconds and frames.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234086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A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DATA AT THE CORE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2615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EE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live data, no product.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858000" y="3236976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161814"/>
          </a:solidFill>
          <a:ln w="9525">
            <a:solidFill>
              <a:srgbClr val="2E30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3300984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986016" y="3502152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+ decisions, streamed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858000" y="3877056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161814"/>
          </a:solidFill>
          <a:ln w="9525">
            <a:solidFill>
              <a:srgbClr val="2E302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986016" y="3941064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ClickHouse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986016" y="4142232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per-second intervals, coverage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858000" y="4517136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161814"/>
          </a:solidFill>
          <a:ln w="9525">
            <a:solidFill>
              <a:srgbClr val="2E30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86016" y="4581144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986016" y="4782312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counters, atomic budget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58000" y="5157216"/>
            <a:ext cx="2148840" cy="512064"/>
          </a:xfrm>
          <a:prstGeom prst="roundRect">
            <a:avLst>
              <a:gd name="adj" fmla="val 14286"/>
            </a:avLst>
          </a:prstGeom>
          <a:solidFill>
            <a:srgbClr val="161814"/>
          </a:solidFill>
          <a:ln w="9525">
            <a:solidFill>
              <a:srgbClr val="2E302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986016" y="5221224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+ pgvector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986016" y="5422392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frames, logo memory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9372600" y="2340864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A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EVIDENCE IT WORKS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9372600" y="2615184"/>
            <a:ext cx="2267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EE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 on a real broadcast.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9372600" y="316382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A7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116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9372600" y="3566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read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10561320" y="316382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A7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10561320" y="3566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errors, off-list brands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9372600" y="389534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A7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$0.12</a:t>
            </a:r>
            <a:endParaRPr lang="en-US" sz="2400" dirty="0"/>
          </a:p>
        </p:txBody>
      </p:sp>
      <p:sp>
        <p:nvSpPr>
          <p:cNvPr id="55" name="Text 53"/>
          <p:cNvSpPr txBox="1"/>
          <p:nvPr/>
        </p:nvSpPr>
        <p:spPr>
          <a:xfrm>
            <a:off x="937260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match-minute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10561320" y="389534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A7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96%</a:t>
            </a:r>
            <a:endParaRPr lang="en-US" sz="2400" dirty="0"/>
          </a:p>
        </p:txBody>
      </p:sp>
      <p:sp>
        <p:nvSpPr>
          <p:cNvPr id="57" name="Text 55"/>
          <p:cNvSpPr txBox="1"/>
          <p:nvPr/>
        </p:nvSpPr>
        <p:spPr>
          <a:xfrm>
            <a:off x="1056132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vs 18–56% OCR*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9372600" y="47000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F6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TIME, 58 s UCL SEGMENT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9372600" y="495604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FedEx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149840" y="5001768"/>
            <a:ext cx="1051560" cy="73152"/>
          </a:xfrm>
          <a:prstGeom prst="rect">
            <a:avLst/>
          </a:prstGeom>
          <a:solidFill>
            <a:srgbClr val="161814"/>
          </a:solidFill>
          <a:ln/>
        </p:spPr>
      </p:sp>
      <p:sp>
        <p:nvSpPr>
          <p:cNvPr id="61" name="Shape 59"/>
          <p:cNvSpPr/>
          <p:nvPr/>
        </p:nvSpPr>
        <p:spPr>
          <a:xfrm>
            <a:off x="10149840" y="5001768"/>
            <a:ext cx="1051560" cy="73152"/>
          </a:xfrm>
          <a:prstGeom prst="rect">
            <a:avLst/>
          </a:prstGeom>
          <a:solidFill>
            <a:srgbClr val="C9A7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247120" y="4956048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 s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9372600" y="5175504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PlayStation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0149840" y="5221224"/>
            <a:ext cx="1051560" cy="73152"/>
          </a:xfrm>
          <a:prstGeom prst="rect">
            <a:avLst/>
          </a:prstGeom>
          <a:solidFill>
            <a:srgbClr val="161814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49840" y="5221224"/>
            <a:ext cx="630936" cy="73152"/>
          </a:xfrm>
          <a:prstGeom prst="rect">
            <a:avLst/>
          </a:prstGeom>
          <a:solidFill>
            <a:srgbClr val="8C8678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247120" y="5175504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 s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9372600" y="5394960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Heineken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149840" y="5440680"/>
            <a:ext cx="1051560" cy="73152"/>
          </a:xfrm>
          <a:prstGeom prst="rect">
            <a:avLst/>
          </a:prstGeom>
          <a:solidFill>
            <a:srgbClr val="161814"/>
          </a:solidFill>
          <a:ln/>
        </p:spPr>
      </p:sp>
      <p:sp>
        <p:nvSpPr>
          <p:cNvPr id="69" name="Shape 67"/>
          <p:cNvSpPr/>
          <p:nvPr/>
        </p:nvSpPr>
        <p:spPr>
          <a:xfrm>
            <a:off x="10149840" y="5440680"/>
            <a:ext cx="341757" cy="73152"/>
          </a:xfrm>
          <a:prstGeom prst="rect">
            <a:avLst/>
          </a:prstGeom>
          <a:solidFill>
            <a:srgbClr val="8C8678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1247120" y="5394960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s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9372600" y="5614416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EE9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Mastercard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10149840" y="5660136"/>
            <a:ext cx="1051560" cy="73152"/>
          </a:xfrm>
          <a:prstGeom prst="rect">
            <a:avLst/>
          </a:prstGeom>
          <a:solidFill>
            <a:srgbClr val="161814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49840" y="5660136"/>
            <a:ext cx="52578" cy="73152"/>
          </a:xfrm>
          <a:prstGeom prst="rect">
            <a:avLst/>
          </a:prstGeom>
          <a:solidFill>
            <a:srgbClr val="8C8678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11247120" y="5614416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39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48640" y="6035040"/>
            <a:ext cx="11091672" cy="0"/>
          </a:xfrm>
          <a:prstGeom prst="line">
            <a:avLst/>
          </a:prstGeom>
          <a:noFill/>
          <a:ln w="9525">
            <a:solidFill>
              <a:srgbClr val="2E302A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48640" y="61447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C9A7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EXECUTION &amp; PITCH   </a:t>
            </a:r>
            <a:pPr indent="0" marL="0">
              <a:buNone/>
            </a:pPr>
            <a:r>
              <a:rPr lang="en-US" sz="1250" i="1" dirty="0">
                <a:solidFill>
                  <a:srgbClr val="EEE9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on Aiven Runtime. Not a count after the match: proof for every second.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6455664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F6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*Pilot on our earlier prototype, partly circular; independent labelling next. Evidence: recorded broadcast replayed through the live pipeline. Repo: github.com/kaktamsdengami/accel_hack-</a:t>
            </a:r>
            <a:endParaRPr lang="en-US" sz="800" dirty="0"/>
          </a:p>
        </p:txBody>
      </p:sp>
      <p:sp>
        <p:nvSpPr>
          <p:cNvPr id="78" name="Text 76">
            <a:hlinkClick r:id="rId1" tooltip=""/>
          </p:cNvPr>
          <p:cNvSpPr txBox="1"/>
          <p:nvPr/>
        </p:nvSpPr>
        <p:spPr>
          <a:xfrm>
            <a:off x="9966960" y="6144768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u="sng" dirty="0">
                <a:solidFill>
                  <a:srgbClr val="C9A76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dashboard ↗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posure">
  <a:themeElements>
    <a:clrScheme name="Exposure">
      <a:dk1>
        <a:srgbClr val="0D0E0C"/>
      </a:dk1>
      <a:lt1>
        <a:srgbClr val="EEE9DE"/>
      </a:lt1>
      <a:dk2>
        <a:srgbClr val="161814"/>
      </a:dk2>
      <a:lt2>
        <a:srgbClr val="A39F94"/>
      </a:lt2>
      <a:accent1>
        <a:srgbClr val="C9A766"/>
      </a:accent1>
      <a:accent2>
        <a:srgbClr val="8C8678"/>
      </a:accent2>
      <a:accent3>
        <a:srgbClr val="2E302A"/>
      </a:accent3>
      <a:accent4>
        <a:srgbClr val="6F6C64"/>
      </a:accent4>
      <a:accent5>
        <a:srgbClr val="B8B2A4"/>
      </a:accent5>
      <a:accent6>
        <a:srgbClr val="5A5850"/>
      </a:accent6>
      <a:hlink>
        <a:srgbClr val="C9A766"/>
      </a:hlink>
      <a:folHlink>
        <a:srgbClr val="A39F94"/>
      </a:folHlink>
    </a:clrScheme>
    <a:fontScheme name="Exposur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EXPOSURE — pitch slide</dc:title>
  <dc:subject>PptxGenJS Presentation</dc:subject>
  <dc:creator>PptxGenJS</dc:creator>
  <cp:lastModifiedBy>PptxGenJS</cp:lastModifiedBy>
  <cp:revision>1</cp:revision>
  <dcterms:created xsi:type="dcterms:W3CDTF">2026-10-22T12:39:59Z</dcterms:created>
  <dcterms:modified xsi:type="dcterms:W3CDTF">2026-10-22T12:39:59Z</dcterms:modified>
</cp:coreProperties>
</file>