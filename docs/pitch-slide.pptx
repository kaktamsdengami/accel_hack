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pixel-perfect-recreation-849.lovable.app/dashboard?match=m-ucl-demo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A7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EXPOSURE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217920" y="41148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F6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Data-Centric Agents  ·  Accel × Aiven  ·  Paris 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dirty="0">
                <a:solidFill>
                  <a:srgbClr val="EE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Sponsors pay millions for screen time.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800" dirty="0">
                <a:solidFill>
                  <a:srgbClr val="EE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club can prove how much they got.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</a:t>
            </a:r>
            <a:pPr indent="0" marL="0">
              <a:buNone/>
            </a:pPr>
            <a:r>
              <a:rPr lang="en-US" sz="1400" dirty="0">
                <a:solidFill>
                  <a:srgbClr val="A3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team of AI agents that watches the broadcast and logs every second each sponsor is on screen, per surface, with the frame as proof.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50592"/>
            <a:ext cx="11091672" cy="0"/>
          </a:xfrm>
          <a:prstGeom prst="line">
            <a:avLst/>
          </a:prstGeom>
          <a:noFill/>
          <a:ln w="9525">
            <a:solidFill>
              <a:srgbClr val="2E30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51960" y="2633472"/>
            <a:ext cx="0" cy="3236976"/>
          </a:xfrm>
          <a:prstGeom prst="line">
            <a:avLst/>
          </a:prstGeom>
          <a:noFill/>
          <a:ln w="9525">
            <a:solidFill>
              <a:srgbClr val="2E30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2633472"/>
            <a:ext cx="0" cy="3236976"/>
          </a:xfrm>
          <a:prstGeom prst="line">
            <a:avLst/>
          </a:prstGeom>
          <a:noFill/>
          <a:ln w="9525">
            <a:solidFill>
              <a:srgbClr val="2E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3347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THE CUSTOMER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9923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E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004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3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commercial managers, starting with 2nd-tier clubs selling LED boards, shirts and backdrops.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2160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E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2277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3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renewal sponsors ask: how many seconds was I on TV, and where? Today: a manual count or a guess.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44398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E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4515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3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models now read stylised logos OCR misses, cheaply enough for every club, every match.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663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E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USERS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36752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3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done with a 2nd-tier club, a second agreed. Next: renewal season, then leagues for all their clubs.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263347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THREE AGENTS, ONE LEDGER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34840" y="3017520"/>
            <a:ext cx="329184" cy="329184"/>
          </a:xfrm>
          <a:prstGeom prst="ellipse">
            <a:avLst/>
          </a:prstGeom>
          <a:solidFill>
            <a:srgbClr val="0D0E0C"/>
          </a:solidFill>
          <a:ln w="12700">
            <a:solidFill>
              <a:srgbClr val="C9A7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34840" y="30449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7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9992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E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Reader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2278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every frame, picks only from the club's sponsor list. Not sure? It says unknown.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34840" y="3694176"/>
            <a:ext cx="329184" cy="329184"/>
          </a:xfrm>
          <a:prstGeom prst="ellipse">
            <a:avLst/>
          </a:prstGeom>
          <a:solidFill>
            <a:srgbClr val="0D0E0C"/>
          </a:solidFill>
          <a:ln w="12700">
            <a:solidFill>
              <a:srgbClr val="C9A76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34840" y="372160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7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6758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E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Guard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39044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each model call before making it, under a hard per-match budget.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34840" y="4370832"/>
            <a:ext cx="329184" cy="329184"/>
          </a:xfrm>
          <a:prstGeom prst="ellipse">
            <a:avLst/>
          </a:prstGeom>
          <a:solidFill>
            <a:srgbClr val="0D0E0C"/>
          </a:solidFill>
          <a:ln w="12700">
            <a:solidFill>
              <a:srgbClr val="C9A76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34840" y="439826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7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937760" y="43525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E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Analyst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45811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open questions by calling the data API as tools, citing seconds and frames.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434840" y="512064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F6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LAYER ON AIVEN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5367528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161814"/>
          </a:solidFill>
          <a:ln w="9525">
            <a:solidFill>
              <a:srgbClr val="2E302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34840" y="53675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E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093208" y="535838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276088" y="5367528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161814"/>
          </a:solidFill>
          <a:ln w="9525">
            <a:solidFill>
              <a:srgbClr val="2E302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276088" y="5367528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E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ClickHouse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172200" y="535838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55080" y="5367528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161814"/>
          </a:solidFill>
          <a:ln w="9525">
            <a:solidFill>
              <a:srgbClr val="2E302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55080" y="53675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E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Valkey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7013448" y="535838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196328" y="5367528"/>
            <a:ext cx="795528" cy="292608"/>
          </a:xfrm>
          <a:prstGeom prst="roundRect">
            <a:avLst>
              <a:gd name="adj" fmla="val 50000"/>
            </a:avLst>
          </a:prstGeom>
          <a:solidFill>
            <a:srgbClr val="161814"/>
          </a:solidFill>
          <a:ln w="9525">
            <a:solidFill>
              <a:srgbClr val="2E302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96328" y="5367528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E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434840" y="57607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A3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Unmeasured seconds are logged, never counted.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8412480" y="2633472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EVIDENCE IT WORKS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412480" y="298094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C9A7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116</a:t>
            </a:r>
            <a:endParaRPr lang="en-US" sz="2800" dirty="0"/>
          </a:p>
        </p:txBody>
      </p:sp>
      <p:sp>
        <p:nvSpPr>
          <p:cNvPr id="46" name="Text 44"/>
          <p:cNvSpPr txBox="1"/>
          <p:nvPr/>
        </p:nvSpPr>
        <p:spPr>
          <a:xfrm>
            <a:off x="8412480" y="3419856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 read, 81 logo sightings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0076688" y="298094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C9A7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48" name="Text 46"/>
          <p:cNvSpPr txBox="1"/>
          <p:nvPr/>
        </p:nvSpPr>
        <p:spPr>
          <a:xfrm>
            <a:off x="10076688" y="3419856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calls, 0 off-list brands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8412480" y="37673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C9A7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$0.12</a:t>
            </a:r>
            <a:endParaRPr lang="en-US" sz="2800" dirty="0"/>
          </a:p>
        </p:txBody>
      </p:sp>
      <p:sp>
        <p:nvSpPr>
          <p:cNvPr id="50" name="Text 48"/>
          <p:cNvSpPr txBox="1"/>
          <p:nvPr/>
        </p:nvSpPr>
        <p:spPr>
          <a:xfrm>
            <a:off x="8412480" y="420624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match-minute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0076688" y="37673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C9A7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</a:t>
            </a:r>
            <a:endParaRPr lang="en-US" sz="2800" dirty="0"/>
          </a:p>
        </p:txBody>
      </p:sp>
      <p:sp>
        <p:nvSpPr>
          <p:cNvPr id="52" name="Text 50"/>
          <p:cNvSpPr txBox="1"/>
          <p:nvPr/>
        </p:nvSpPr>
        <p:spPr>
          <a:xfrm>
            <a:off x="10076688" y="420624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vs 18–56% OCR*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8412480" y="4645152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F6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TIME, 58 s UCL SEGMENT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8412480" y="49194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FedEx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326880" y="4965192"/>
            <a:ext cx="1828800" cy="73152"/>
          </a:xfrm>
          <a:prstGeom prst="rect">
            <a:avLst/>
          </a:prstGeom>
          <a:solidFill>
            <a:srgbClr val="161814"/>
          </a:solidFill>
          <a:ln/>
        </p:spPr>
      </p:sp>
      <p:sp>
        <p:nvSpPr>
          <p:cNvPr id="56" name="Shape 54"/>
          <p:cNvSpPr/>
          <p:nvPr/>
        </p:nvSpPr>
        <p:spPr>
          <a:xfrm>
            <a:off x="9326880" y="4965192"/>
            <a:ext cx="1828800" cy="73152"/>
          </a:xfrm>
          <a:prstGeom prst="rect">
            <a:avLst/>
          </a:prstGeom>
          <a:solidFill>
            <a:srgbClr val="C9A766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11228832" y="49194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 s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8412480" y="51480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PlayStation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326880" y="5193792"/>
            <a:ext cx="1828800" cy="73152"/>
          </a:xfrm>
          <a:prstGeom prst="rect">
            <a:avLst/>
          </a:prstGeom>
          <a:solidFill>
            <a:srgbClr val="161814"/>
          </a:solidFill>
          <a:ln/>
        </p:spPr>
      </p:sp>
      <p:sp>
        <p:nvSpPr>
          <p:cNvPr id="60" name="Shape 58"/>
          <p:cNvSpPr/>
          <p:nvPr/>
        </p:nvSpPr>
        <p:spPr>
          <a:xfrm>
            <a:off x="9326880" y="5193792"/>
            <a:ext cx="1097280" cy="73152"/>
          </a:xfrm>
          <a:prstGeom prst="rect">
            <a:avLst/>
          </a:prstGeom>
          <a:solidFill>
            <a:srgbClr val="8C8678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1228832" y="51480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 s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412480" y="53766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Heineken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326880" y="5422392"/>
            <a:ext cx="1828800" cy="73152"/>
          </a:xfrm>
          <a:prstGeom prst="rect">
            <a:avLst/>
          </a:prstGeom>
          <a:solidFill>
            <a:srgbClr val="161814"/>
          </a:solidFill>
          <a:ln/>
        </p:spPr>
      </p:sp>
      <p:sp>
        <p:nvSpPr>
          <p:cNvPr id="64" name="Shape 62"/>
          <p:cNvSpPr/>
          <p:nvPr/>
        </p:nvSpPr>
        <p:spPr>
          <a:xfrm>
            <a:off x="9326880" y="5422392"/>
            <a:ext cx="594360" cy="73152"/>
          </a:xfrm>
          <a:prstGeom prst="rect">
            <a:avLst/>
          </a:prstGeom>
          <a:solidFill>
            <a:srgbClr val="8C8678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11228832" y="53766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 s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8412480" y="56052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Mastercard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326880" y="5650992"/>
            <a:ext cx="1828800" cy="73152"/>
          </a:xfrm>
          <a:prstGeom prst="rect">
            <a:avLst/>
          </a:prstGeom>
          <a:solidFill>
            <a:srgbClr val="161814"/>
          </a:solidFill>
          <a:ln/>
        </p:spPr>
      </p:sp>
      <p:sp>
        <p:nvSpPr>
          <p:cNvPr id="68" name="Shape 66"/>
          <p:cNvSpPr/>
          <p:nvPr/>
        </p:nvSpPr>
        <p:spPr>
          <a:xfrm>
            <a:off x="9326880" y="5650992"/>
            <a:ext cx="91440" cy="73152"/>
          </a:xfrm>
          <a:prstGeom prst="rect">
            <a:avLst/>
          </a:prstGeom>
          <a:solidFill>
            <a:srgbClr val="8C8678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11228832" y="56052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48640" y="6035040"/>
            <a:ext cx="11091672" cy="0"/>
          </a:xfrm>
          <a:prstGeom prst="line">
            <a:avLst/>
          </a:prstGeom>
          <a:noFill/>
          <a:ln w="9525">
            <a:solidFill>
              <a:srgbClr val="2E302A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48640" y="61447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  </a:t>
            </a:r>
            <a:pPr indent="0" marL="0">
              <a:buNone/>
            </a:pPr>
            <a:r>
              <a:rPr lang="en-US" sz="1300" i="1" dirty="0">
                <a:solidFill>
                  <a:srgbClr val="EE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count after the match: a live ledger where every second has a frame, a confidence and a cost.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548640" y="6455664"/>
            <a:ext cx="11091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F6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*Pilot on our earlier prototype, partly circular; independent labelling next. Evidence: recorded broadcast replayed through the live pipeline on Aiven Runtime. Repo: github.com/kaktamsdengami/accel_hack-</a:t>
            </a:r>
            <a:endParaRPr lang="en-US" sz="800" dirty="0"/>
          </a:p>
        </p:txBody>
      </p:sp>
      <p:sp>
        <p:nvSpPr>
          <p:cNvPr id="73" name="Text 71">
            <a:hlinkClick r:id="rId1" tooltip=""/>
          </p:cNvPr>
          <p:cNvSpPr txBox="1"/>
          <p:nvPr/>
        </p:nvSpPr>
        <p:spPr>
          <a:xfrm>
            <a:off x="9509760" y="6144768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u="sng" dirty="0">
                <a:solidFill>
                  <a:srgbClr val="C9A76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dashboard ↗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posure">
  <a:themeElements>
    <a:clrScheme name="Exposure">
      <a:dk1>
        <a:srgbClr val="0D0E0C"/>
      </a:dk1>
      <a:lt1>
        <a:srgbClr val="EEE9DE"/>
      </a:lt1>
      <a:dk2>
        <a:srgbClr val="161814"/>
      </a:dk2>
      <a:lt2>
        <a:srgbClr val="A39F94"/>
      </a:lt2>
      <a:accent1>
        <a:srgbClr val="C9A766"/>
      </a:accent1>
      <a:accent2>
        <a:srgbClr val="8C8678"/>
      </a:accent2>
      <a:accent3>
        <a:srgbClr val="2E302A"/>
      </a:accent3>
      <a:accent4>
        <a:srgbClr val="6F6C64"/>
      </a:accent4>
      <a:accent5>
        <a:srgbClr val="B8B2A4"/>
      </a:accent5>
      <a:accent6>
        <a:srgbClr val="5A5850"/>
      </a:accent6>
      <a:hlink>
        <a:srgbClr val="C9A766"/>
      </a:hlink>
      <a:folHlink>
        <a:srgbClr val="A39F94"/>
      </a:folHlink>
    </a:clrScheme>
    <a:fontScheme name="Exposur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EXPOSURE — pitch slide</dc:title>
  <dc:subject>PptxGenJS Presentation</dc:subject>
  <dc:creator>PptxGenJS</dc:creator>
  <cp:lastModifiedBy>PptxGenJS</cp:lastModifiedBy>
  <cp:revision>1</cp:revision>
  <dcterms:created xsi:type="dcterms:W3CDTF">2026-10-22T12:35:56Z</dcterms:created>
  <dcterms:modified xsi:type="dcterms:W3CDTF">2026-10-22T12:35:56Z</dcterms:modified>
</cp:coreProperties>
</file>